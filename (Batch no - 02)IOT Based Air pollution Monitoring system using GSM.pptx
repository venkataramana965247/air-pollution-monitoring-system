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73" r:id="rId4"/>
    <p:sldId id="258" r:id="rId5"/>
    <p:sldId id="268" r:id="rId6"/>
    <p:sldId id="269" r:id="rId7"/>
    <p:sldId id="267" r:id="rId8"/>
    <p:sldId id="259" r:id="rId9"/>
    <p:sldId id="275" r:id="rId10"/>
    <p:sldId id="278" r:id="rId11"/>
    <p:sldId id="270" r:id="rId12"/>
    <p:sldId id="272" r:id="rId13"/>
    <p:sldId id="271" r:id="rId14"/>
    <p:sldId id="277" r:id="rId15"/>
    <p:sldId id="27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6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067"/>
    <a:srgbClr val="F2630C"/>
    <a:srgbClr val="FF4D4D"/>
    <a:srgbClr val="FFF0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67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image" Target="../media/image2.png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image" Target="../media/image3.png"/><Relationship Id="rId10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image" Target="../media/image4.png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10"/>
          <p:cNvSpPr/>
          <p:nvPr>
            <p:custDataLst>
              <p:tags r:id="rId2"/>
            </p:custDataLst>
          </p:nvPr>
        </p:nvSpPr>
        <p:spPr>
          <a:xfrm>
            <a:off x="0" y="0"/>
            <a:ext cx="4927600" cy="5885181"/>
          </a:xfrm>
          <a:custGeom>
            <a:avLst/>
            <a:gdLst>
              <a:gd name="connsiteX0" fmla="*/ 0 w 4927600"/>
              <a:gd name="connsiteY0" fmla="*/ 0 h 5885181"/>
              <a:gd name="connsiteX1" fmla="*/ 4213318 w 4927600"/>
              <a:gd name="connsiteY1" fmla="*/ 0 h 5885181"/>
              <a:gd name="connsiteX2" fmla="*/ 4278322 w 4927600"/>
              <a:gd name="connsiteY2" fmla="*/ 85063 h 5885181"/>
              <a:gd name="connsiteX3" fmla="*/ 4927600 w 4927600"/>
              <a:gd name="connsiteY3" fmla="*/ 2165033 h 5885181"/>
              <a:gd name="connsiteX4" fmla="*/ 1125855 w 4927600"/>
              <a:gd name="connsiteY4" fmla="*/ 5885181 h 5885181"/>
              <a:gd name="connsiteX5" fmla="*/ 175740 w 4927600"/>
              <a:gd name="connsiteY5" fmla="*/ 5768061 h 5885181"/>
              <a:gd name="connsiteX6" fmla="*/ 0 w 4927600"/>
              <a:gd name="connsiteY6" fmla="*/ 5719228 h 5885181"/>
              <a:gd name="connsiteX7" fmla="*/ 0 w 4927600"/>
              <a:gd name="connsiteY7" fmla="*/ 3389538 h 5885181"/>
              <a:gd name="connsiteX8" fmla="*/ 37676 w 4927600"/>
              <a:gd name="connsiteY8" fmla="*/ 3422147 h 5885181"/>
              <a:gd name="connsiteX9" fmla="*/ 1125855 w 4927600"/>
              <a:gd name="connsiteY9" fmla="*/ 3794160 h 5885181"/>
              <a:gd name="connsiteX10" fmla="*/ 2836579 w 4927600"/>
              <a:gd name="connsiteY10" fmla="*/ 2165033 h 5885181"/>
              <a:gd name="connsiteX11" fmla="*/ 1125855 w 4927600"/>
              <a:gd name="connsiteY11" fmla="*/ 535906 h 5885181"/>
              <a:gd name="connsiteX12" fmla="*/ 37676 w 4927600"/>
              <a:gd name="connsiteY12" fmla="*/ 907920 h 5885181"/>
              <a:gd name="connsiteX13" fmla="*/ 0 w 4927600"/>
              <a:gd name="connsiteY13" fmla="*/ 940528 h 588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27600" h="5885181">
                <a:moveTo>
                  <a:pt x="0" y="0"/>
                </a:moveTo>
                <a:lnTo>
                  <a:pt x="4213318" y="0"/>
                </a:lnTo>
                <a:lnTo>
                  <a:pt x="4278322" y="85063"/>
                </a:lnTo>
                <a:cubicBezTo>
                  <a:pt x="4688243" y="678802"/>
                  <a:pt x="4927600" y="1394565"/>
                  <a:pt x="4927600" y="2165033"/>
                </a:cubicBezTo>
                <a:cubicBezTo>
                  <a:pt x="4927600" y="4219614"/>
                  <a:pt x="3225501" y="5885181"/>
                  <a:pt x="1125855" y="5885181"/>
                </a:cubicBezTo>
                <a:cubicBezTo>
                  <a:pt x="797785" y="5885181"/>
                  <a:pt x="479421" y="5844518"/>
                  <a:pt x="175740" y="5768061"/>
                </a:cubicBezTo>
                <a:lnTo>
                  <a:pt x="0" y="5719228"/>
                </a:lnTo>
                <a:lnTo>
                  <a:pt x="0" y="3389538"/>
                </a:lnTo>
                <a:lnTo>
                  <a:pt x="37676" y="3422147"/>
                </a:lnTo>
                <a:cubicBezTo>
                  <a:pt x="333390" y="3654551"/>
                  <a:pt x="712502" y="3794160"/>
                  <a:pt x="1125855" y="3794160"/>
                </a:cubicBezTo>
                <a:cubicBezTo>
                  <a:pt x="2070662" y="3794160"/>
                  <a:pt x="2836579" y="3064775"/>
                  <a:pt x="2836579" y="2165033"/>
                </a:cubicBezTo>
                <a:cubicBezTo>
                  <a:pt x="2836579" y="1265291"/>
                  <a:pt x="2070662" y="535906"/>
                  <a:pt x="1125855" y="535906"/>
                </a:cubicBezTo>
                <a:cubicBezTo>
                  <a:pt x="712502" y="535906"/>
                  <a:pt x="333390" y="675515"/>
                  <a:pt x="37676" y="907920"/>
                </a:cubicBezTo>
                <a:lnTo>
                  <a:pt x="0" y="940528"/>
                </a:lnTo>
                <a:close/>
              </a:path>
            </a:pathLst>
          </a:custGeom>
          <a:gradFill>
            <a:gsLst>
              <a:gs pos="0">
                <a:schemeClr val="bg1">
                  <a:alpha val="34000"/>
                </a:schemeClr>
              </a:gs>
              <a:gs pos="100000">
                <a:schemeClr val="bg1">
                  <a:alpha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任意多边形: 形状 12"/>
          <p:cNvSpPr/>
          <p:nvPr>
            <p:custDataLst>
              <p:tags r:id="rId3"/>
            </p:custDataLst>
          </p:nvPr>
        </p:nvSpPr>
        <p:spPr>
          <a:xfrm>
            <a:off x="10299713" y="5252085"/>
            <a:ext cx="1892287" cy="1605915"/>
          </a:xfrm>
          <a:custGeom>
            <a:avLst/>
            <a:gdLst>
              <a:gd name="connsiteX0" fmla="*/ 1660830 w 1892287"/>
              <a:gd name="connsiteY0" fmla="*/ 0 h 1605915"/>
              <a:gd name="connsiteX1" fmla="*/ 1831031 w 1892287"/>
              <a:gd name="connsiteY1" fmla="*/ 8686 h 1605915"/>
              <a:gd name="connsiteX2" fmla="*/ 1892287 w 1892287"/>
              <a:gd name="connsiteY2" fmla="*/ 18135 h 1605915"/>
              <a:gd name="connsiteX3" fmla="*/ 1892287 w 1892287"/>
              <a:gd name="connsiteY3" fmla="*/ 1086869 h 1605915"/>
              <a:gd name="connsiteX4" fmla="*/ 1786696 w 1892287"/>
              <a:gd name="connsiteY4" fmla="*/ 1053159 h 1605915"/>
              <a:gd name="connsiteX5" fmla="*/ 1660829 w 1892287"/>
              <a:gd name="connsiteY5" fmla="*/ 1040109 h 1605915"/>
              <a:gd name="connsiteX6" fmla="*/ 1048973 w 1892287"/>
              <a:gd name="connsiteY6" fmla="*/ 1552982 h 1605915"/>
              <a:gd name="connsiteX7" fmla="*/ 1043785 w 1892287"/>
              <a:gd name="connsiteY7" fmla="*/ 1605915 h 1605915"/>
              <a:gd name="connsiteX8" fmla="*/ 0 w 1892287"/>
              <a:gd name="connsiteY8" fmla="*/ 1605915 h 1605915"/>
              <a:gd name="connsiteX9" fmla="*/ 4771 w 1892287"/>
              <a:gd name="connsiteY9" fmla="*/ 1510414 h 1605915"/>
              <a:gd name="connsiteX10" fmla="*/ 1660830 w 1892287"/>
              <a:gd name="connsiteY10" fmla="*/ 0 h 1605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92287" h="1605915">
                <a:moveTo>
                  <a:pt x="1660830" y="0"/>
                </a:moveTo>
                <a:cubicBezTo>
                  <a:pt x="1718290" y="0"/>
                  <a:pt x="1775070" y="2943"/>
                  <a:pt x="1831031" y="8686"/>
                </a:cubicBezTo>
                <a:lnTo>
                  <a:pt x="1892287" y="18135"/>
                </a:lnTo>
                <a:lnTo>
                  <a:pt x="1892287" y="1086869"/>
                </a:lnTo>
                <a:lnTo>
                  <a:pt x="1786696" y="1053159"/>
                </a:lnTo>
                <a:cubicBezTo>
                  <a:pt x="1746040" y="1044603"/>
                  <a:pt x="1703945" y="1040109"/>
                  <a:pt x="1660829" y="1040109"/>
                </a:cubicBezTo>
                <a:cubicBezTo>
                  <a:pt x="1359019" y="1040109"/>
                  <a:pt x="1107210" y="1260286"/>
                  <a:pt x="1048973" y="1552982"/>
                </a:cubicBezTo>
                <a:lnTo>
                  <a:pt x="1043785" y="1605915"/>
                </a:lnTo>
                <a:lnTo>
                  <a:pt x="0" y="1605915"/>
                </a:lnTo>
                <a:lnTo>
                  <a:pt x="4771" y="1510414"/>
                </a:lnTo>
                <a:cubicBezTo>
                  <a:pt x="90018" y="662037"/>
                  <a:pt x="798928" y="0"/>
                  <a:pt x="1660830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28000"/>
                </a:schemeClr>
              </a:gs>
              <a:gs pos="100000">
                <a:schemeClr val="bg1">
                  <a:alpha val="12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tx1"/>
              </a:solidFill>
              <a:sym typeface="+mn-lt"/>
            </a:endParaRPr>
          </a:p>
        </p:txBody>
      </p:sp>
      <p:pic>
        <p:nvPicPr>
          <p:cNvPr id="10" name="图片 9" descr="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t="15969" r="47646"/>
          <a:stretch>
            <a:fillRect/>
          </a:stretch>
        </p:blipFill>
        <p:spPr>
          <a:xfrm>
            <a:off x="0" y="1736725"/>
            <a:ext cx="6383020" cy="5122545"/>
          </a:xfrm>
          <a:prstGeom prst="rect">
            <a:avLst/>
          </a:prstGeom>
        </p:spPr>
      </p:pic>
      <p:sp>
        <p:nvSpPr>
          <p:cNvPr id="9" name="标题"/>
          <p:cNvSpPr txBox="1">
            <a:spLocks noGrp="1"/>
          </p:cNvSpPr>
          <p:nvPr>
            <p:ph type="title" idx="6" hasCustomPrompt="1"/>
            <p:custDataLst>
              <p:tags r:id="rId6"/>
            </p:custDataLst>
          </p:nvPr>
        </p:nvSpPr>
        <p:spPr>
          <a:xfrm>
            <a:off x="5688330" y="499745"/>
            <a:ext cx="5799455" cy="3270885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400" b="0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r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7"/>
            </p:custDataLst>
          </p:nvPr>
        </p:nvCxnSpPr>
        <p:spPr>
          <a:xfrm>
            <a:off x="832485" y="601345"/>
            <a:ext cx="116205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8"/>
            </p:custDataLst>
          </p:nvPr>
        </p:nvCxnSpPr>
        <p:spPr>
          <a:xfrm>
            <a:off x="832485" y="659765"/>
            <a:ext cx="116205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9"/>
            </p:custDataLst>
          </p:nvPr>
        </p:nvCxnSpPr>
        <p:spPr>
          <a:xfrm>
            <a:off x="832485" y="718185"/>
            <a:ext cx="116205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副标题"/>
          <p:cNvSpPr txBox="1">
            <a:spLocks noGrp="1"/>
          </p:cNvSpPr>
          <p:nvPr>
            <p:ph type="body" idx="1" hasCustomPrompt="1"/>
            <p:custDataLst>
              <p:tags r:id="rId10"/>
            </p:custDataLst>
          </p:nvPr>
        </p:nvSpPr>
        <p:spPr>
          <a:xfrm>
            <a:off x="6096000" y="3770630"/>
            <a:ext cx="5391785" cy="6413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sym typeface="+mn-ea"/>
              </a:defRPr>
            </a:lvl1pPr>
          </a:lstStyle>
          <a:p>
            <a:pPr lvl="0" algn="r">
              <a:lnSpc>
                <a:spcPct val="100000"/>
              </a:lnSpc>
              <a:buClrTx/>
              <a:buSzTx/>
              <a:buFont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16" name="署名占位符 10"/>
          <p:cNvSpPr>
            <a:spLocks noGrp="1"/>
          </p:cNvSpPr>
          <p:nvPr>
            <p:ph type="body" sz="quarter" idx="17" hasCustomPrompt="1"/>
            <p:custDataLst>
              <p:tags r:id="rId14"/>
            </p:custDataLst>
          </p:nvPr>
        </p:nvSpPr>
        <p:spPr>
          <a:xfrm>
            <a:off x="9262985" y="4514978"/>
            <a:ext cx="2224800" cy="54057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wrap="square" lIns="0" rIns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u="none" strike="noStrike" kern="1200" cap="none" spc="0" normalizeH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/>
          <p:cNvSpPr txBox="1">
            <a:spLocks noGrp="1"/>
          </p:cNvSpPr>
          <p:nvPr>
            <p:ph idx="2" hasCustomPrompt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 algn="ctr"/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 descr="VCG41N138528749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16000"/>
          </a:blip>
          <a:srcRect l="-39" t="20988" r="59024" b="21427"/>
          <a:stretch>
            <a:fillRect/>
          </a:stretch>
        </p:blipFill>
        <p:spPr>
          <a:xfrm flipH="1">
            <a:off x="6480339" y="-6350"/>
            <a:ext cx="5711661" cy="4009467"/>
          </a:xfrm>
          <a:prstGeom prst="rect">
            <a:avLst/>
          </a:prstGeom>
        </p:spPr>
      </p:pic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797560" y="1107440"/>
            <a:ext cx="4235450" cy="8096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defPPr>
              <a:defRPr lang="en-US">
                <a:latin typeface="+mj-lt"/>
              </a:defRPr>
            </a:defPPr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400" b="0" i="0" u="none" strike="noStrike" kern="1200" cap="none" spc="0" normalizeH="0" baseline="0" noProof="1" dirty="0">
                <a:solidFill>
                  <a:schemeClr val="accent1"/>
                </a:solidFill>
                <a:uFillTx/>
                <a:latin typeface="+mj-lt"/>
              </a:defRPr>
            </a:lvl1pPr>
          </a:lstStyle>
          <a:p>
            <a:pPr lvl="0"/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3"/>
          <p:cNvSpPr/>
          <p:nvPr>
            <p:custDataLst>
              <p:tags r:id="rId2"/>
            </p:custDataLst>
          </p:nvPr>
        </p:nvSpPr>
        <p:spPr>
          <a:xfrm flipH="1">
            <a:off x="6946901" y="0"/>
            <a:ext cx="5245101" cy="5210811"/>
          </a:xfrm>
          <a:custGeom>
            <a:avLst/>
            <a:gdLst>
              <a:gd name="connsiteX0" fmla="*/ 754709 w 5245101"/>
              <a:gd name="connsiteY0" fmla="*/ 0 h 5210811"/>
              <a:gd name="connsiteX1" fmla="*/ 0 w 5245101"/>
              <a:gd name="connsiteY1" fmla="*/ 0 h 5210811"/>
              <a:gd name="connsiteX2" fmla="*/ 0 w 5245101"/>
              <a:gd name="connsiteY2" fmla="*/ 618673 h 5210811"/>
              <a:gd name="connsiteX3" fmla="*/ 24797 w 5245101"/>
              <a:gd name="connsiteY3" fmla="*/ 579803 h 5210811"/>
              <a:gd name="connsiteX4" fmla="*/ 627923 w 5245101"/>
              <a:gd name="connsiteY4" fmla="*/ 58163 h 5210811"/>
              <a:gd name="connsiteX5" fmla="*/ 4926654 w 5245101"/>
              <a:gd name="connsiteY5" fmla="*/ 0 h 5210811"/>
              <a:gd name="connsiteX6" fmla="*/ 2132003 w 5245101"/>
              <a:gd name="connsiteY6" fmla="*/ 0 h 5210811"/>
              <a:gd name="connsiteX7" fmla="*/ 2258789 w 5245101"/>
              <a:gd name="connsiteY7" fmla="*/ 58163 h 5210811"/>
              <a:gd name="connsiteX8" fmla="*/ 3154080 w 5245101"/>
              <a:gd name="connsiteY8" fmla="*/ 1490663 h 5210811"/>
              <a:gd name="connsiteX9" fmla="*/ 1443356 w 5245101"/>
              <a:gd name="connsiteY9" fmla="*/ 3119790 h 5210811"/>
              <a:gd name="connsiteX10" fmla="*/ 24797 w 5245101"/>
              <a:gd name="connsiteY10" fmla="*/ 2401523 h 5210811"/>
              <a:gd name="connsiteX11" fmla="*/ 0 w 5245101"/>
              <a:gd name="connsiteY11" fmla="*/ 2362654 h 5210811"/>
              <a:gd name="connsiteX12" fmla="*/ 0 w 5245101"/>
              <a:gd name="connsiteY12" fmla="*/ 4932529 h 5210811"/>
              <a:gd name="connsiteX13" fmla="*/ 136188 w 5245101"/>
              <a:gd name="connsiteY13" fmla="*/ 4985074 h 5210811"/>
              <a:gd name="connsiteX14" fmla="*/ 1443356 w 5245101"/>
              <a:gd name="connsiteY14" fmla="*/ 5210811 h 5210811"/>
              <a:gd name="connsiteX15" fmla="*/ 5245101 w 5245101"/>
              <a:gd name="connsiteY15" fmla="*/ 1490663 h 5210811"/>
              <a:gd name="connsiteX16" fmla="*/ 4946341 w 5245101"/>
              <a:gd name="connsiteY16" fmla="*/ 42614 h 5210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245101" h="5210811">
                <a:moveTo>
                  <a:pt x="754709" y="0"/>
                </a:moveTo>
                <a:lnTo>
                  <a:pt x="0" y="0"/>
                </a:lnTo>
                <a:lnTo>
                  <a:pt x="0" y="618673"/>
                </a:lnTo>
                <a:lnTo>
                  <a:pt x="24797" y="579803"/>
                </a:lnTo>
                <a:cubicBezTo>
                  <a:pt x="178511" y="363127"/>
                  <a:pt x="385525" y="183561"/>
                  <a:pt x="627923" y="58163"/>
                </a:cubicBezTo>
                <a:close/>
                <a:moveTo>
                  <a:pt x="4926654" y="0"/>
                </a:moveTo>
                <a:lnTo>
                  <a:pt x="2132003" y="0"/>
                </a:lnTo>
                <a:lnTo>
                  <a:pt x="2258789" y="58163"/>
                </a:lnTo>
                <a:cubicBezTo>
                  <a:pt x="2792064" y="334038"/>
                  <a:pt x="3154080" y="872091"/>
                  <a:pt x="3154080" y="1490663"/>
                </a:cubicBezTo>
                <a:cubicBezTo>
                  <a:pt x="3154080" y="2390405"/>
                  <a:pt x="2388163" y="3119790"/>
                  <a:pt x="1443356" y="3119790"/>
                </a:cubicBezTo>
                <a:cubicBezTo>
                  <a:pt x="852852" y="3119790"/>
                  <a:pt x="332226" y="2834874"/>
                  <a:pt x="24797" y="2401523"/>
                </a:cubicBezTo>
                <a:lnTo>
                  <a:pt x="0" y="2362654"/>
                </a:lnTo>
                <a:lnTo>
                  <a:pt x="0" y="4932529"/>
                </a:lnTo>
                <a:lnTo>
                  <a:pt x="136188" y="4985074"/>
                </a:lnTo>
                <a:cubicBezTo>
                  <a:pt x="543784" y="5131111"/>
                  <a:pt x="984058" y="5210811"/>
                  <a:pt x="1443356" y="5210811"/>
                </a:cubicBezTo>
                <a:cubicBezTo>
                  <a:pt x="3543002" y="5210811"/>
                  <a:pt x="5245101" y="3545244"/>
                  <a:pt x="5245101" y="1490663"/>
                </a:cubicBezTo>
                <a:cubicBezTo>
                  <a:pt x="5245101" y="977018"/>
                  <a:pt x="5138720" y="487686"/>
                  <a:pt x="4946341" y="42614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4000"/>
                </a:schemeClr>
              </a:gs>
              <a:gs pos="100000">
                <a:schemeClr val="bg1">
                  <a:alpha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任意多边形: 形状 9"/>
          <p:cNvSpPr/>
          <p:nvPr>
            <p:custDataLst>
              <p:tags r:id="rId3"/>
            </p:custDataLst>
          </p:nvPr>
        </p:nvSpPr>
        <p:spPr>
          <a:xfrm flipH="1">
            <a:off x="0" y="5172075"/>
            <a:ext cx="1795780" cy="1685918"/>
          </a:xfrm>
          <a:custGeom>
            <a:avLst/>
            <a:gdLst>
              <a:gd name="connsiteX0" fmla="*/ 1664653 w 1795780"/>
              <a:gd name="connsiteY0" fmla="*/ 0 h 1685918"/>
              <a:gd name="connsiteX1" fmla="*/ 0 w 1795780"/>
              <a:gd name="connsiteY1" fmla="*/ 1682433 h 1685918"/>
              <a:gd name="connsiteX2" fmla="*/ 174 w 1795780"/>
              <a:gd name="connsiteY2" fmla="*/ 1685918 h 1685918"/>
              <a:gd name="connsiteX3" fmla="*/ 1040450 w 1795780"/>
              <a:gd name="connsiteY3" fmla="*/ 1685918 h 1685918"/>
              <a:gd name="connsiteX4" fmla="*/ 1040108 w 1795780"/>
              <a:gd name="connsiteY4" fmla="*/ 1682433 h 1685918"/>
              <a:gd name="connsiteX5" fmla="*/ 1664652 w 1795780"/>
              <a:gd name="connsiteY5" fmla="*/ 1040109 h 1685918"/>
              <a:gd name="connsiteX6" fmla="*/ 1790519 w 1795780"/>
              <a:gd name="connsiteY6" fmla="*/ 1053159 h 1685918"/>
              <a:gd name="connsiteX7" fmla="*/ 1795780 w 1795780"/>
              <a:gd name="connsiteY7" fmla="*/ 1054838 h 1685918"/>
              <a:gd name="connsiteX8" fmla="*/ 1795780 w 1795780"/>
              <a:gd name="connsiteY8" fmla="*/ 6692 h 1685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5780" h="1685918">
                <a:moveTo>
                  <a:pt x="1664653" y="0"/>
                </a:moveTo>
                <a:cubicBezTo>
                  <a:pt x="745291" y="0"/>
                  <a:pt x="0" y="753251"/>
                  <a:pt x="0" y="1682433"/>
                </a:cubicBezTo>
                <a:lnTo>
                  <a:pt x="174" y="1685918"/>
                </a:lnTo>
                <a:lnTo>
                  <a:pt x="1040450" y="1685918"/>
                </a:lnTo>
                <a:lnTo>
                  <a:pt x="1040108" y="1682433"/>
                </a:lnTo>
                <a:cubicBezTo>
                  <a:pt x="1040108" y="1327687"/>
                  <a:pt x="1319726" y="1040109"/>
                  <a:pt x="1664652" y="1040109"/>
                </a:cubicBezTo>
                <a:cubicBezTo>
                  <a:pt x="1707768" y="1040109"/>
                  <a:pt x="1749863" y="1044603"/>
                  <a:pt x="1790519" y="1053159"/>
                </a:cubicBezTo>
                <a:lnTo>
                  <a:pt x="1795780" y="1054838"/>
                </a:lnTo>
                <a:lnTo>
                  <a:pt x="1795780" y="6692"/>
                </a:lnTo>
                <a:close/>
              </a:path>
            </a:pathLst>
          </a:custGeom>
          <a:gradFill>
            <a:gsLst>
              <a:gs pos="0">
                <a:schemeClr val="bg1">
                  <a:alpha val="28000"/>
                </a:schemeClr>
              </a:gs>
              <a:gs pos="100000">
                <a:schemeClr val="bg1">
                  <a:alpha val="12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tx1"/>
              </a:solidFill>
              <a:latin typeface="+mj-lt"/>
              <a:sym typeface="+mn-lt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4"/>
            </p:custDataLst>
          </p:nvPr>
        </p:nvCxnSpPr>
        <p:spPr>
          <a:xfrm>
            <a:off x="814705" y="601345"/>
            <a:ext cx="133985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5"/>
            </p:custDataLst>
          </p:nvPr>
        </p:nvCxnSpPr>
        <p:spPr>
          <a:xfrm>
            <a:off x="814705" y="659765"/>
            <a:ext cx="133985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6"/>
            </p:custDataLst>
          </p:nvPr>
        </p:nvCxnSpPr>
        <p:spPr>
          <a:xfrm>
            <a:off x="814705" y="718185"/>
            <a:ext cx="133985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8"/>
          <p:cNvSpPr txBox="1">
            <a:spLocks noGrp="1"/>
          </p:cNvSpPr>
          <p:nvPr>
            <p:ph type="body" idx="4" hasCustomPrompt="1"/>
            <p:custDataLst>
              <p:tags r:id="rId7"/>
            </p:custDataLst>
          </p:nvPr>
        </p:nvSpPr>
        <p:spPr>
          <a:xfrm>
            <a:off x="1152525" y="1798320"/>
            <a:ext cx="4954905" cy="118110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6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sym typeface="+mn-ea"/>
              </a:defRPr>
            </a:lvl1pPr>
          </a:lstStyle>
          <a:p>
            <a:pPr lvl="0" algn="l">
              <a:lnSpc>
                <a:spcPct val="100000"/>
              </a:lnSpc>
            </a:pPr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7" name="标题 6"/>
          <p:cNvSpPr txBox="1">
            <a:spLocks noGrp="1"/>
          </p:cNvSpPr>
          <p:nvPr>
            <p:ph type="title" idx="3" hasCustomPrompt="1"/>
            <p:custDataLst>
              <p:tags r:id="rId8"/>
            </p:custDataLst>
          </p:nvPr>
        </p:nvSpPr>
        <p:spPr>
          <a:xfrm>
            <a:off x="1152525" y="2984500"/>
            <a:ext cx="5484495" cy="171513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000" b="0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3" name="圆角矩形 32"/>
          <p:cNvSpPr/>
          <p:nvPr>
            <p:custDataLst>
              <p:tags r:id="rId9"/>
            </p:custDataLst>
          </p:nvPr>
        </p:nvSpPr>
        <p:spPr>
          <a:xfrm>
            <a:off x="1355090" y="4821555"/>
            <a:ext cx="572770" cy="3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>
              <a:latin typeface="+mj-lt"/>
            </a:endParaRPr>
          </a:p>
        </p:txBody>
      </p:sp>
      <p:pic>
        <p:nvPicPr>
          <p:cNvPr id="8" name="图片 7" descr="图片1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487795" y="1307465"/>
            <a:ext cx="5718175" cy="401129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3" hasCustomPrompt="1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 algn="ctr"/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"/>
          <p:cNvSpPr txBox="1">
            <a:spLocks noGrp="1"/>
          </p:cNvSpPr>
          <p:nvPr>
            <p:ph type="title" idx="5" hasCustomPrompt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 algn="ctr"/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 hasCustomPrompt="1"/>
            <p:custDataLst>
              <p:tags r:id="rId3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2" hasCustomPrompt="1"/>
            <p:custDataLst>
              <p:tags r:id="rId5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 algn="ctr"/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8"/>
          <p:cNvSpPr/>
          <p:nvPr>
            <p:custDataLst>
              <p:tags r:id="rId2"/>
            </p:custDataLst>
          </p:nvPr>
        </p:nvSpPr>
        <p:spPr>
          <a:xfrm>
            <a:off x="399098" y="351155"/>
            <a:ext cx="11393805" cy="6155690"/>
          </a:xfrm>
          <a:prstGeom prst="roundRect">
            <a:avLst>
              <a:gd name="adj" fmla="val 3654"/>
            </a:avLst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 algn="ctr"/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6" name="副标题"/>
          <p:cNvSpPr txBox="1"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0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j-lt"/>
              </a:defRPr>
            </a:lvl1pPr>
          </a:lstStyle>
          <a:p>
            <a:pPr lvl="0" algn="ctr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4"/>
          <p:cNvSpPr/>
          <p:nvPr>
            <p:custDataLst>
              <p:tags r:id="rId2"/>
            </p:custDataLst>
          </p:nvPr>
        </p:nvSpPr>
        <p:spPr>
          <a:xfrm>
            <a:off x="0" y="-49763"/>
            <a:ext cx="4927600" cy="5885181"/>
          </a:xfrm>
          <a:custGeom>
            <a:avLst/>
            <a:gdLst>
              <a:gd name="connsiteX0" fmla="*/ 0 w 4927600"/>
              <a:gd name="connsiteY0" fmla="*/ 0 h 5885181"/>
              <a:gd name="connsiteX1" fmla="*/ 4213318 w 4927600"/>
              <a:gd name="connsiteY1" fmla="*/ 0 h 5885181"/>
              <a:gd name="connsiteX2" fmla="*/ 4278322 w 4927600"/>
              <a:gd name="connsiteY2" fmla="*/ 85063 h 5885181"/>
              <a:gd name="connsiteX3" fmla="*/ 4927600 w 4927600"/>
              <a:gd name="connsiteY3" fmla="*/ 2165033 h 5885181"/>
              <a:gd name="connsiteX4" fmla="*/ 1125855 w 4927600"/>
              <a:gd name="connsiteY4" fmla="*/ 5885181 h 5885181"/>
              <a:gd name="connsiteX5" fmla="*/ 175740 w 4927600"/>
              <a:gd name="connsiteY5" fmla="*/ 5768061 h 5885181"/>
              <a:gd name="connsiteX6" fmla="*/ 0 w 4927600"/>
              <a:gd name="connsiteY6" fmla="*/ 5719228 h 5885181"/>
              <a:gd name="connsiteX7" fmla="*/ 0 w 4927600"/>
              <a:gd name="connsiteY7" fmla="*/ 3565018 h 5885181"/>
              <a:gd name="connsiteX8" fmla="*/ 91957 w 4927600"/>
              <a:gd name="connsiteY8" fmla="*/ 3630748 h 5885181"/>
              <a:gd name="connsiteX9" fmla="*/ 1125855 w 4927600"/>
              <a:gd name="connsiteY9" fmla="*/ 3932624 h 5885181"/>
              <a:gd name="connsiteX10" fmla="*/ 2975043 w 4927600"/>
              <a:gd name="connsiteY10" fmla="*/ 2165033 h 5885181"/>
              <a:gd name="connsiteX11" fmla="*/ 1125855 w 4927600"/>
              <a:gd name="connsiteY11" fmla="*/ 397442 h 5885181"/>
              <a:gd name="connsiteX12" fmla="*/ 91957 w 4927600"/>
              <a:gd name="connsiteY12" fmla="*/ 699319 h 5885181"/>
              <a:gd name="connsiteX13" fmla="*/ 0 w 4927600"/>
              <a:gd name="connsiteY13" fmla="*/ 765048 h 5885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27600" h="5885181">
                <a:moveTo>
                  <a:pt x="0" y="0"/>
                </a:moveTo>
                <a:lnTo>
                  <a:pt x="4213318" y="0"/>
                </a:lnTo>
                <a:lnTo>
                  <a:pt x="4278322" y="85063"/>
                </a:lnTo>
                <a:cubicBezTo>
                  <a:pt x="4688243" y="678802"/>
                  <a:pt x="4927600" y="1394565"/>
                  <a:pt x="4927600" y="2165033"/>
                </a:cubicBezTo>
                <a:cubicBezTo>
                  <a:pt x="4927600" y="4219614"/>
                  <a:pt x="3225501" y="5885181"/>
                  <a:pt x="1125855" y="5885181"/>
                </a:cubicBezTo>
                <a:cubicBezTo>
                  <a:pt x="797785" y="5885181"/>
                  <a:pt x="479422" y="5844518"/>
                  <a:pt x="175740" y="5768061"/>
                </a:cubicBezTo>
                <a:lnTo>
                  <a:pt x="0" y="5719228"/>
                </a:lnTo>
                <a:lnTo>
                  <a:pt x="0" y="3565018"/>
                </a:lnTo>
                <a:lnTo>
                  <a:pt x="91957" y="3630748"/>
                </a:lnTo>
                <a:cubicBezTo>
                  <a:pt x="387089" y="3821337"/>
                  <a:pt x="742876" y="3932624"/>
                  <a:pt x="1125855" y="3932624"/>
                </a:cubicBezTo>
                <a:cubicBezTo>
                  <a:pt x="2147133" y="3932624"/>
                  <a:pt x="2975043" y="3141247"/>
                  <a:pt x="2975043" y="2165033"/>
                </a:cubicBezTo>
                <a:cubicBezTo>
                  <a:pt x="2975043" y="1188819"/>
                  <a:pt x="2147133" y="397442"/>
                  <a:pt x="1125855" y="397442"/>
                </a:cubicBezTo>
                <a:cubicBezTo>
                  <a:pt x="742876" y="397442"/>
                  <a:pt x="387089" y="508729"/>
                  <a:pt x="91957" y="699319"/>
                </a:cubicBezTo>
                <a:lnTo>
                  <a:pt x="0" y="765048"/>
                </a:lnTo>
                <a:close/>
              </a:path>
            </a:pathLst>
          </a:custGeom>
          <a:gradFill>
            <a:gsLst>
              <a:gs pos="0">
                <a:schemeClr val="bg1">
                  <a:alpha val="34000"/>
                </a:schemeClr>
              </a:gs>
              <a:gs pos="100000">
                <a:schemeClr val="bg1">
                  <a:alpha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6" hasCustomPrompt="1"/>
            <p:custDataLst>
              <p:tags r:id="rId3"/>
            </p:custDataLst>
          </p:nvPr>
        </p:nvSpPr>
        <p:spPr>
          <a:xfrm>
            <a:off x="894080" y="1704340"/>
            <a:ext cx="5391785" cy="222885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5100" b="0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cxnSp>
        <p:nvCxnSpPr>
          <p:cNvPr id="22" name="直接连接符 21"/>
          <p:cNvCxnSpPr/>
          <p:nvPr>
            <p:custDataLst>
              <p:tags r:id="rId4"/>
            </p:custDataLst>
          </p:nvPr>
        </p:nvCxnSpPr>
        <p:spPr>
          <a:xfrm>
            <a:off x="814705" y="601345"/>
            <a:ext cx="133985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5"/>
            </p:custDataLst>
          </p:nvPr>
        </p:nvCxnSpPr>
        <p:spPr>
          <a:xfrm>
            <a:off x="814705" y="659765"/>
            <a:ext cx="133985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6"/>
            </p:custDataLst>
          </p:nvPr>
        </p:nvCxnSpPr>
        <p:spPr>
          <a:xfrm>
            <a:off x="814705" y="718185"/>
            <a:ext cx="133985" cy="0"/>
          </a:xfrm>
          <a:prstGeom prst="line">
            <a:avLst/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 descr="VCG41N138528749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13792" r="46938"/>
          <a:stretch>
            <a:fillRect/>
          </a:stretch>
        </p:blipFill>
        <p:spPr>
          <a:xfrm>
            <a:off x="5618480" y="1602740"/>
            <a:ext cx="6469380" cy="525526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13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881697" y="4013171"/>
            <a:ext cx="2224800" cy="518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wrap="square" lIns="0" rIns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 u="none" strike="noStrike" kern="1200" cap="none" spc="0" normalizeH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83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82.xml"/><Relationship Id="rId18" Type="http://schemas.openxmlformats.org/officeDocument/2006/relationships/tags" Target="../tags/tag81.xml"/><Relationship Id="rId17" Type="http://schemas.openxmlformats.org/officeDocument/2006/relationships/tags" Target="../tags/tag80.xml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 userDrawn="1">
            <p:custDataLst>
              <p:tags r:id="rId13"/>
            </p:custDataLst>
          </p:nvPr>
        </p:nvSpPr>
        <p:spPr>
          <a:xfrm>
            <a:off x="399098" y="351155"/>
            <a:ext cx="11393805" cy="962845"/>
          </a:xfrm>
          <a:prstGeom prst="roundRect">
            <a:avLst>
              <a:gd name="adj" fmla="val 23742"/>
            </a:avLst>
          </a:prstGeom>
          <a:solidFill>
            <a:schemeClr val="bg2">
              <a:lumMod val="9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Tx/>
              <a:buSzTx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lvl="0" algn="ctr"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1800" b="0" i="0" u="none" strike="noStrike" kern="1200" cap="none" spc="150" normalizeH="0" baseline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kumimoji="0" lang="en-US" sz="16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n-ea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6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n-ea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4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n-ea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400" b="0" i="0" u="none" strike="noStrike" kern="1200" cap="none" spc="150" normalizeH="0" baseline="0" smtClean="0">
          <a:solidFill>
            <a:schemeClr val="tx1">
              <a:lumMod val="65000"/>
              <a:lumOff val="35000"/>
            </a:schemeClr>
          </a:solidFill>
          <a:uFillTx/>
          <a:latin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image" Target="../media/image5.png"/><Relationship Id="rId1" Type="http://schemas.openxmlformats.org/officeDocument/2006/relationships/tags" Target="../tags/tag9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8.xml"/><Relationship Id="rId4" Type="http://schemas.openxmlformats.org/officeDocument/2006/relationships/image" Target="../media/image6.png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02.xml"/><Relationship Id="rId4" Type="http://schemas.openxmlformats.org/officeDocument/2006/relationships/image" Target="../media/image7.png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109.xml"/><Relationship Id="rId7" Type="http://schemas.openxmlformats.org/officeDocument/2006/relationships/image" Target="../media/image11.png"/><Relationship Id="rId6" Type="http://schemas.openxmlformats.org/officeDocument/2006/relationships/tags" Target="../tags/tag10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18.xml"/><Relationship Id="rId4" Type="http://schemas.openxmlformats.org/officeDocument/2006/relationships/image" Target="../media/image12.png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3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6"/>
            <p:custDataLst>
              <p:tags r:id="rId1"/>
            </p:custDataLst>
          </p:nvPr>
        </p:nvSpPr>
        <p:spPr>
          <a:xfrm>
            <a:off x="4858385" y="1193165"/>
            <a:ext cx="6737350" cy="2493645"/>
          </a:xfrm>
        </p:spPr>
        <p:txBody>
          <a:bodyPr>
            <a:normAutofit fontScale="90000"/>
          </a:bodyPr>
          <a:lstStyle/>
          <a:p>
            <a:r>
              <a:rPr lang="en-US" sz="5400">
                <a:latin typeface="Times New Roman" panose="02020603050405020304" charset="0"/>
                <a:cs typeface="Times New Roman" panose="02020603050405020304" charset="0"/>
              </a:rPr>
              <a:t>IOT Based Air Pollution Monitoring System</a:t>
            </a:r>
            <a:r>
              <a:rPr lang="en-IN" altLang="en-US" sz="5400">
                <a:latin typeface="Times New Roman" panose="02020603050405020304" charset="0"/>
                <a:cs typeface="Times New Roman" panose="02020603050405020304" charset="0"/>
              </a:rPr>
              <a:t> Using GSM Module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096000" y="2705735"/>
            <a:ext cx="5391785" cy="1706245"/>
          </a:xfrm>
        </p:spPr>
        <p:txBody>
          <a:bodyPr/>
          <a:lstStyle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K.Venkata Ramana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M.Geetha Sri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I.Ramu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P.Sathish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xfrm>
            <a:off x="8958580" y="5114290"/>
            <a:ext cx="2929255" cy="1171575"/>
          </a:xfrm>
        </p:spPr>
        <p:txBody>
          <a:bodyPr>
            <a:normAutofit/>
          </a:bodyPr>
          <a:lstStyle/>
          <a:p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P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roject </a:t>
            </a: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G</a:t>
            </a: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uide :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/>
              <a:t>P.S.D </a:t>
            </a:r>
            <a:r>
              <a:rPr lang="en-US"/>
              <a:t>Anvesh Sir</a:t>
            </a:r>
            <a:endParaRPr 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xfrm>
            <a:off x="376555" y="356870"/>
            <a:ext cx="11369040" cy="956945"/>
          </a:xfrm>
          <a:prstGeom prst="roundRect">
            <a:avLst/>
          </a:prstGeom>
          <a:solidFill>
            <a:srgbClr val="FFE067"/>
          </a:solidFill>
          <a:ln>
            <a:solidFill>
              <a:schemeClr val="bg1"/>
            </a:solidFill>
          </a:ln>
          <a:effectLst>
            <a:reflection blurRad="6350" stA="52000" endA="300" endPos="35000" dir="5400000" sy="-100000" algn="bl" rotWithShape="0"/>
            <a:softEdge rad="12700"/>
          </a:effec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normAutofit/>
          </a:bodyPr>
          <a:p>
            <a:pPr algn="l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	</a:t>
            </a:r>
            <a:r>
              <a:rPr lang="en-IN" altLang="en-US">
                <a:solidFill>
                  <a:schemeClr val="tx1"/>
                </a:solidFill>
                <a:effectLst/>
                <a:latin typeface="Times New Roman" panose="02020603050405020304" charset="0"/>
                <a:cs typeface="Times New Roman" panose="02020603050405020304" charset="0"/>
              </a:rPr>
              <a:t>Abstract:</a:t>
            </a:r>
            <a:endParaRPr lang="en-IN" altLang="en-US">
              <a:solidFill>
                <a:schemeClr val="tx1"/>
              </a:solidFill>
              <a:effectLst/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02285" y="1703070"/>
            <a:ext cx="6005830" cy="38925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Air pollution is one of the most serious problems faced by the world today. 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Rapid industrialization, urbanization, and increased use of vehicles have significantly contributed to the rise in harmful gases in the atmosphere.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Traditional methods of monitoring air quality are often expensive, complex, and not suitable for continuous real-time monitoring.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To overcome these limitations, the use of Internet of Things (IoT) technology</a:t>
            </a:r>
            <a:r>
              <a:rPr lang="en-IN" altLang="en-US" sz="19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IN" altLang="en-US" sz="19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76555" y="356870"/>
            <a:ext cx="11369040" cy="956945"/>
          </a:xfrm>
          <a:prstGeom prst="round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algn="l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	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/>
          <p:cNvPicPr>
            <a:picLocks noChangeAspect="1"/>
          </p:cNvPicPr>
          <p:nvPr>
            <p:ph idx="2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597775" y="1526540"/>
            <a:ext cx="3615690" cy="4551045"/>
          </a:xfrm>
          <a:prstGeom prst="rect">
            <a:avLst/>
          </a:prstGeom>
          <a:effectLst>
            <a:glow rad="177800">
              <a:srgbClr val="FFC000">
                <a:alpha val="88000"/>
              </a:srgbClr>
            </a:glow>
            <a:reflection stA="43000" endPos="36000" dir="5400000" sy="-100000" algn="bl" rotWithShape="0"/>
            <a:softEdge rad="12700"/>
          </a:effectLst>
          <a:scene3d>
            <a:camera prst="perspectiveLeft"/>
            <a:lightRig rig="threePt" dir="t"/>
          </a:scene3d>
        </p:spPr>
      </p:pic>
      <p:sp>
        <p:nvSpPr>
          <p:cNvPr id="3" name="Title 2"/>
          <p:cNvSpPr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376555" y="356870"/>
            <a:ext cx="11369040" cy="95694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>
            <a:normAutofit/>
          </a:bodyPr>
          <a:p>
            <a:pPr algn="l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	Introduction &amp; problem statement :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95935" y="1788795"/>
            <a:ext cx="6310630" cy="3658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Air pollution is increasing day by day.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It affects human health and the environment.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Polluted air can cause breathing and heart problems.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Existing air pollution monitoring systems are costly.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Manual monitoring is difficult and time-consuming.</a:t>
            </a:r>
            <a:endParaRPr lang="en-US" altLang="en-US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对象5"/>
          <p:cNvSpPr/>
          <p:nvPr>
            <p:custDataLst>
              <p:tags r:id="rId4"/>
            </p:custDataLst>
          </p:nvPr>
        </p:nvSpPr>
        <p:spPr>
          <a:xfrm>
            <a:off x="648970" y="608330"/>
            <a:ext cx="596265" cy="5588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000" b="1">
                <a:solidFill>
                  <a:schemeClr val="lt1">
                    <a:lumMod val="100000"/>
                  </a:schemeClr>
                </a:solidFill>
                <a:latin typeface="+mn-lt"/>
                <a:sym typeface="+mn-lt"/>
              </a:rPr>
              <a:t>1</a:t>
            </a:r>
            <a:endParaRPr lang="en-US" sz="20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347710" y="7556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Title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76555" y="356870"/>
            <a:ext cx="11369040" cy="95694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algn="l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	Existing system Using Arduino UNO R4 Wi - Fi :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对象5"/>
          <p:cNvSpPr/>
          <p:nvPr>
            <p:custDataLst>
              <p:tags r:id="rId2"/>
            </p:custDataLst>
          </p:nvPr>
        </p:nvSpPr>
        <p:spPr>
          <a:xfrm>
            <a:off x="648970" y="608330"/>
            <a:ext cx="596265" cy="5588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I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sym typeface="+mn-ea"/>
              </a:rPr>
              <a:t>2</a:t>
            </a:r>
            <a:endParaRPr lang="en-IN" altLang="en-US" sz="20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20" name="Content Placeholder 19"/>
          <p:cNvSpPr/>
          <p:nvPr>
            <p:ph idx="2"/>
            <p:custDataLst>
              <p:tags r:id="rId3"/>
            </p:custDataLst>
          </p:nvPr>
        </p:nvSpPr>
        <p:spPr>
          <a:xfrm>
            <a:off x="608330" y="1490345"/>
            <a:ext cx="4596765" cy="4759325"/>
          </a:xfrm>
        </p:spPr>
        <p:txBody>
          <a:bodyPr>
            <a:normAutofit/>
          </a:bodyPr>
          <a:p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Built-in Wi-Fi for internet</a:t>
            </a:r>
            <a:r>
              <a:rPr lang="en-IN" altLang="en-US" sz="2200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connectivity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Uses MQ-9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Displays data on 16 × 2 LCD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Sends data through Wi-Fi network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Supports cloud monitoring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Does not use GSM module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Requires Wi-Fi availability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rcRect t="3084" r="4933"/>
          <a:stretch>
            <a:fillRect/>
          </a:stretch>
        </p:blipFill>
        <p:spPr>
          <a:xfrm>
            <a:off x="5901690" y="1670685"/>
            <a:ext cx="5751195" cy="3913505"/>
          </a:xfrm>
          <a:prstGeom prst="rect">
            <a:avLst/>
          </a:prstGeom>
          <a:effectLst>
            <a:glow rad="495300">
              <a:srgbClr val="F2630C">
                <a:alpha val="61000"/>
              </a:srgbClr>
            </a:glow>
            <a:reflection blurRad="6350" stA="50000" endA="275" endPos="40000" dist="101600" dir="5400000" sy="-100000" algn="bl" rotWithShape="0"/>
          </a:effectLst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Title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76555" y="356870"/>
            <a:ext cx="11369040" cy="95694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algn="l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	Proposed </a:t>
            </a:r>
            <a:r>
              <a:rPr altLang="en-IN">
                <a:latin typeface="Times New Roman" panose="02020603050405020304" charset="0"/>
                <a:cs typeface="Times New Roman" panose="02020603050405020304" charset="0"/>
              </a:rPr>
              <a:t>S</a:t>
            </a: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ystem Using GSM Module :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对象5"/>
          <p:cNvSpPr/>
          <p:nvPr>
            <p:custDataLst>
              <p:tags r:id="rId2"/>
            </p:custDataLst>
          </p:nvPr>
        </p:nvSpPr>
        <p:spPr>
          <a:xfrm>
            <a:off x="648970" y="608330"/>
            <a:ext cx="596265" cy="5588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I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sym typeface="+mn-ea"/>
              </a:rPr>
              <a:t>3</a:t>
            </a:r>
            <a:endParaRPr lang="en-IN" altLang="en-US" sz="20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20" name="Content Placeholder 19"/>
          <p:cNvSpPr/>
          <p:nvPr>
            <p:ph idx="2"/>
            <p:custDataLst>
              <p:tags r:id="rId3"/>
            </p:custDataLst>
          </p:nvPr>
        </p:nvSpPr>
        <p:spPr>
          <a:xfrm>
            <a:off x="608330" y="1490345"/>
            <a:ext cx="4596765" cy="4759325"/>
          </a:xfrm>
        </p:spPr>
        <p:txBody>
          <a:bodyPr>
            <a:noAutofit/>
          </a:bodyPr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Arduino UNO as controller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DHT</a:t>
            </a:r>
            <a:r>
              <a:rPr lang="en-IN" altLang="en-US" sz="19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11 for temperature and humidity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MQ-9 for CO gas detection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PM2.5 for dust measurement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16 × 2 LCD for display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GSM module for SMS alerts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Buzzer for warning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6315710" y="1490345"/>
            <a:ext cx="4566285" cy="5079365"/>
          </a:xfrm>
          <a:prstGeom prst="rect">
            <a:avLst/>
          </a:prstGeom>
          <a:noFill/>
          <a:ln>
            <a:solidFill>
              <a:srgbClr val="FF4D4D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  <a:softEdge rad="31750"/>
          </a:effectLst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Title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76555" y="356870"/>
            <a:ext cx="11369040" cy="95694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algn="l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	Block Diagram :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对象5"/>
          <p:cNvSpPr/>
          <p:nvPr>
            <p:custDataLst>
              <p:tags r:id="rId2"/>
            </p:custDataLst>
          </p:nvPr>
        </p:nvSpPr>
        <p:spPr>
          <a:xfrm>
            <a:off x="648970" y="608330"/>
            <a:ext cx="596265" cy="5588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I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sym typeface="+mn-ea"/>
              </a:rPr>
              <a:t>4</a:t>
            </a:r>
            <a:endParaRPr lang="en-IN" altLang="en-US" sz="20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2" name="Diamond 1"/>
          <p:cNvSpPr/>
          <p:nvPr/>
        </p:nvSpPr>
        <p:spPr>
          <a:xfrm>
            <a:off x="4424680" y="2867025"/>
            <a:ext cx="3112135" cy="1917065"/>
          </a:xfrm>
          <a:prstGeom prst="diamond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ARDUINO UNO 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Controller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10920" y="1713865"/>
            <a:ext cx="2165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INPUT SENSORS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Flowchart: Alternate Process 5"/>
          <p:cNvSpPr/>
          <p:nvPr/>
        </p:nvSpPr>
        <p:spPr>
          <a:xfrm>
            <a:off x="925195" y="2279015"/>
            <a:ext cx="1899285" cy="588010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DHT - 11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Flowchart: Alternate Process 6"/>
          <p:cNvSpPr/>
          <p:nvPr/>
        </p:nvSpPr>
        <p:spPr>
          <a:xfrm>
            <a:off x="1010920" y="3502660"/>
            <a:ext cx="1899285" cy="588010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MQ - 9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(CO &amp; CH4 ...)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Flowchart: Alternate Process 7"/>
          <p:cNvSpPr/>
          <p:nvPr/>
        </p:nvSpPr>
        <p:spPr>
          <a:xfrm>
            <a:off x="1010920" y="5183505"/>
            <a:ext cx="1899285" cy="588010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PM2.5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8604885" y="1575435"/>
            <a:ext cx="27724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OUTPUT &amp; COMMUNICATIONS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Flowchart: Alternate Process 9"/>
          <p:cNvSpPr/>
          <p:nvPr/>
        </p:nvSpPr>
        <p:spPr>
          <a:xfrm>
            <a:off x="8679815" y="2279015"/>
            <a:ext cx="1899285" cy="588010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16 * 2 LCD Display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Flowchart: Alternate Process 10"/>
          <p:cNvSpPr/>
          <p:nvPr/>
        </p:nvSpPr>
        <p:spPr>
          <a:xfrm>
            <a:off x="8679815" y="4497705"/>
            <a:ext cx="1899285" cy="588010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BUZZER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Flowchart: Alternate Process 11"/>
          <p:cNvSpPr/>
          <p:nvPr/>
        </p:nvSpPr>
        <p:spPr>
          <a:xfrm>
            <a:off x="8743315" y="3502660"/>
            <a:ext cx="1899285" cy="588010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GSM Module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" name="Flowchart: Alternate Process 13"/>
          <p:cNvSpPr/>
          <p:nvPr/>
        </p:nvSpPr>
        <p:spPr>
          <a:xfrm>
            <a:off x="5031105" y="5888355"/>
            <a:ext cx="1899285" cy="588010"/>
          </a:xfrm>
          <a:prstGeom prst="flowChartAlternateProcess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Power Supply Board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2824480" y="2533650"/>
            <a:ext cx="20199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865370" y="2555240"/>
            <a:ext cx="0" cy="9474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3"/>
            <a:endCxn id="2" idx="1"/>
          </p:cNvCxnSpPr>
          <p:nvPr/>
        </p:nvCxnSpPr>
        <p:spPr>
          <a:xfrm>
            <a:off x="2910205" y="3796665"/>
            <a:ext cx="1514475" cy="292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2910205" y="5477510"/>
            <a:ext cx="20199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4919980" y="4122420"/>
            <a:ext cx="0" cy="13042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4" idx="0"/>
            <a:endCxn id="2" idx="2"/>
          </p:cNvCxnSpPr>
          <p:nvPr/>
        </p:nvCxnSpPr>
        <p:spPr>
          <a:xfrm flipV="1">
            <a:off x="5981065" y="4784090"/>
            <a:ext cx="0" cy="11042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6820535" y="2533650"/>
            <a:ext cx="13970" cy="9683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6855460" y="3838730"/>
            <a:ext cx="0" cy="1152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endCxn id="10" idx="1"/>
          </p:cNvCxnSpPr>
          <p:nvPr/>
        </p:nvCxnSpPr>
        <p:spPr>
          <a:xfrm flipV="1">
            <a:off x="6803390" y="2573020"/>
            <a:ext cx="1876425" cy="139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6866890" y="3782695"/>
            <a:ext cx="1876425" cy="139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V="1">
            <a:off x="6867525" y="4982210"/>
            <a:ext cx="1876425" cy="139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635" y="1527175"/>
            <a:ext cx="1721485" cy="219456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8432800" y="3767455"/>
            <a:ext cx="767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MQ-9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ext Box 8"/>
          <p:cNvSpPr txBox="1"/>
          <p:nvPr/>
        </p:nvSpPr>
        <p:spPr>
          <a:xfrm rot="10800000" flipV="1">
            <a:off x="9596120" y="3853180"/>
            <a:ext cx="1851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DHT 11 Sensor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itle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76555" y="356870"/>
            <a:ext cx="11369040" cy="95694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algn="l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	List of Required Hardware Components :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对象5"/>
          <p:cNvSpPr/>
          <p:nvPr>
            <p:custDataLst>
              <p:tags r:id="rId3"/>
            </p:custDataLst>
          </p:nvPr>
        </p:nvSpPr>
        <p:spPr>
          <a:xfrm>
            <a:off x="648970" y="608330"/>
            <a:ext cx="596265" cy="5588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I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sym typeface="+mn-ea"/>
              </a:rPr>
              <a:t>5</a:t>
            </a:r>
            <a:endParaRPr lang="en-IN" altLang="en-US" sz="20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0740" y="1527175"/>
            <a:ext cx="1572895" cy="239585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8135" y="4506595"/>
            <a:ext cx="3429000" cy="1200150"/>
          </a:xfrm>
          <a:prstGeom prst="rect">
            <a:avLst/>
          </a:prstGeom>
          <a:effectLst>
            <a:glow rad="127000">
              <a:srgbClr val="FF4D4D">
                <a:alpha val="64000"/>
              </a:srgbClr>
            </a:glow>
            <a:reflection blurRad="6350" stA="50000" endA="300" endPos="55500" dist="50800" dir="5400000" sy="-100000" algn="bl" rotWithShape="0"/>
          </a:effectLst>
        </p:spPr>
      </p:pic>
      <p:sp>
        <p:nvSpPr>
          <p:cNvPr id="20" name="Content Placeholder 19"/>
          <p:cNvSpPr/>
          <p:nvPr>
            <p:ph idx="2"/>
            <p:custDataLst>
              <p:tags r:id="rId6"/>
            </p:custDataLst>
          </p:nvPr>
        </p:nvSpPr>
        <p:spPr/>
        <p:txBody>
          <a:bodyPr>
            <a:normAutofit lnSpcReduction="20000"/>
          </a:bodyPr>
          <a:p>
            <a:r>
              <a:rPr lang="en-US" altLang="en-US" sz="2200" b="1">
                <a:latin typeface="Times New Roman" panose="02020603050405020304" charset="0"/>
                <a:cs typeface="Times New Roman" panose="02020603050405020304" charset="0"/>
              </a:rPr>
              <a:t>DHT11</a:t>
            </a: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 b="1">
                <a:latin typeface="Times New Roman" panose="02020603050405020304" charset="0"/>
                <a:cs typeface="Times New Roman" panose="02020603050405020304" charset="0"/>
              </a:rPr>
              <a:t>MQ-9</a:t>
            </a:r>
            <a:endParaRPr lang="en-US" altLang="en-US" sz="22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 b="1">
                <a:latin typeface="Times New Roman" panose="02020603050405020304" charset="0"/>
                <a:cs typeface="Times New Roman" panose="02020603050405020304" charset="0"/>
              </a:rPr>
              <a:t>PM2.5 sensor </a:t>
            </a:r>
            <a:endParaRPr lang="en-US" altLang="en-US" sz="22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 b="1">
                <a:latin typeface="Times New Roman" panose="02020603050405020304" charset="0"/>
                <a:cs typeface="Times New Roman" panose="02020603050405020304" charset="0"/>
              </a:rPr>
              <a:t>16x2 LCD</a:t>
            </a:r>
            <a:r>
              <a:rPr lang="en-US" altLang="en-US" sz="2200"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 b="1">
                <a:latin typeface="Times New Roman" panose="02020603050405020304" charset="0"/>
                <a:cs typeface="Times New Roman" panose="02020603050405020304" charset="0"/>
              </a:rPr>
              <a:t>Power Supply </a:t>
            </a:r>
            <a:endParaRPr lang="en-US" altLang="en-US" sz="22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 b="1">
                <a:latin typeface="Times New Roman" panose="02020603050405020304" charset="0"/>
                <a:cs typeface="Times New Roman" panose="02020603050405020304" charset="0"/>
              </a:rPr>
              <a:t>Arduino </a:t>
            </a:r>
            <a:r>
              <a:rPr lang="en-IN" altLang="en-US" sz="2200" b="1">
                <a:latin typeface="Times New Roman" panose="02020603050405020304" charset="0"/>
                <a:cs typeface="Times New Roman" panose="02020603050405020304" charset="0"/>
              </a:rPr>
              <a:t>UNO</a:t>
            </a:r>
            <a:endParaRPr lang="en-US" altLang="en-US" sz="22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200" b="1">
                <a:latin typeface="Times New Roman" panose="02020603050405020304" charset="0"/>
                <a:cs typeface="Times New Roman" panose="02020603050405020304" charset="0"/>
              </a:rPr>
              <a:t>SIM800 GSM Module</a:t>
            </a:r>
            <a:endParaRPr lang="en-IN" altLang="en-US" sz="2200" b="1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 sz="2200" b="1">
                <a:latin typeface="Times New Roman" panose="02020603050405020304" charset="0"/>
                <a:cs typeface="Times New Roman" panose="02020603050405020304" charset="0"/>
              </a:rPr>
              <a:t>Buzzer</a:t>
            </a:r>
            <a:endParaRPr lang="en-IN" altLang="en-US" sz="2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7665" y="2250440"/>
            <a:ext cx="3319145" cy="2598420"/>
          </a:xfrm>
          <a:prstGeom prst="rect">
            <a:avLst/>
          </a:prstGeom>
          <a:effectLst>
            <a:reflection stA="35000" endA="300" endPos="57000" dir="5400000" sy="-100000" algn="bl" rotWithShape="0"/>
            <a:softEdge rad="241300"/>
          </a:effectLst>
          <a:scene3d>
            <a:camera prst="orthographicFront">
              <a:rot lat="0" lon="0" rev="0"/>
            </a:camera>
            <a:lightRig rig="threePt" dir="t"/>
          </a:scene3d>
          <a:sp3d prstMaterial="metal"/>
        </p:spPr>
      </p:pic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Content Placeholder 4"/>
          <p:cNvSpPr>
            <a:spLocks noGrp="1"/>
          </p:cNvSpPr>
          <p:nvPr>
            <p:ph idx="4"/>
            <p:custDataLst>
              <p:tags r:id="rId1"/>
            </p:custDataLst>
          </p:nvPr>
        </p:nvSpPr>
        <p:spPr/>
        <p:txBody>
          <a:bodyPr/>
          <a:p>
            <a:r>
              <a:rPr lang="en-IN" altLang="en-US" sz="2500">
                <a:latin typeface="Times New Roman" panose="02020603050405020304" charset="0"/>
                <a:cs typeface="Times New Roman" panose="02020603050405020304" charset="0"/>
              </a:rPr>
              <a:t>PROPOSED SYSTEM :</a:t>
            </a:r>
            <a:endParaRPr lang="en-IN" altLang="en-US" sz="25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+mj-lt"/>
              <a:buNone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1. Works without internet using GSM</a:t>
            </a:r>
            <a:endParaRPr lang="en-IN" altLang="en-US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2. Uses multiple sensors (MQ-9, PM2.5, DHT11) 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+mj-lt"/>
              <a:buNone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3. Sends SMS alerts direcly to user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+mj-lt"/>
              <a:buNone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4. Works in remote areas without internet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+mj-lt"/>
              <a:buNone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5. Insstant SMS + buzzer alert system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2"/>
            <p:custDataLst>
              <p:tags r:id="rId2"/>
            </p:custDataLst>
          </p:nvPr>
        </p:nvSpPr>
        <p:spPr/>
        <p:txBody>
          <a:bodyPr/>
          <a:p>
            <a:r>
              <a:rPr lang="en-IN" altLang="en-US" sz="2500">
                <a:latin typeface="Times New Roman" panose="02020603050405020304" charset="0"/>
                <a:cs typeface="Times New Roman" panose="02020603050405020304" charset="0"/>
              </a:rPr>
              <a:t>EXISTING SYSTEM :</a:t>
            </a:r>
            <a:endParaRPr lang="en-IN" altLang="en-US" sz="25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+mj-lt"/>
              <a:buNone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1. Depends on Internet (Wi-Fi Required)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+mj-lt"/>
              <a:buNone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2. Uses limited Sensors (MQ-9)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+mj-lt"/>
              <a:buNone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3. Data sent to cloud/server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+mj-lt"/>
              <a:buNone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4. Fails if internet is Unavailable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Font typeface="+mj-lt"/>
              <a:buNone/>
            </a:pP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5. No Direct alert system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itle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76555" y="356870"/>
            <a:ext cx="11369040" cy="95694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algn="l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	Comparison: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对象5"/>
          <p:cNvSpPr/>
          <p:nvPr>
            <p:custDataLst>
              <p:tags r:id="rId4"/>
            </p:custDataLst>
          </p:nvPr>
        </p:nvSpPr>
        <p:spPr>
          <a:xfrm>
            <a:off x="648970" y="608330"/>
            <a:ext cx="596265" cy="5588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I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sym typeface="+mn-ea"/>
              </a:rPr>
              <a:t>6</a:t>
            </a:r>
            <a:endParaRPr lang="en-IN" altLang="en-US" sz="20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2"/>
            <p:custDataLst>
              <p:tags r:id="rId1"/>
            </p:custDataLst>
          </p:nvPr>
        </p:nvSpPr>
        <p:spPr>
          <a:xfrm>
            <a:off x="608330" y="1490345"/>
            <a:ext cx="6784340" cy="4863465"/>
          </a:xfrm>
        </p:spPr>
        <p:txBody>
          <a:bodyPr/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Date: May 7, 2020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Location: Gopalapatnam, Visakhapatnam (Vizag)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Cause: Leakage of Styrene gas from LG Polymers plant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Impact: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10+ deaths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1000+ people affected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Breathing issues, unconsciousness, panic in nearby areas</a:t>
            </a:r>
            <a:endParaRPr lang="en-US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Title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76555" y="356870"/>
            <a:ext cx="11369040" cy="95694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algn="l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	Real Time Example</a:t>
            </a:r>
            <a:r>
              <a:rPr altLang="en-IN"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en-US" altLang="en-US">
                <a:latin typeface="Times New Roman" panose="02020603050405020304" charset="0"/>
                <a:cs typeface="Times New Roman" panose="02020603050405020304" charset="0"/>
              </a:rPr>
              <a:t>Vizag Gas Leak Incident-2020)</a:t>
            </a:r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 :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对象5"/>
          <p:cNvSpPr/>
          <p:nvPr>
            <p:custDataLst>
              <p:tags r:id="rId3"/>
            </p:custDataLst>
          </p:nvPr>
        </p:nvSpPr>
        <p:spPr>
          <a:xfrm>
            <a:off x="648970" y="608330"/>
            <a:ext cx="596265" cy="5588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I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sym typeface="+mn-ea"/>
              </a:rPr>
              <a:t>7</a:t>
            </a:r>
            <a:endParaRPr lang="en-IN" altLang="en-US" sz="20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240" y="1669415"/>
            <a:ext cx="3961130" cy="4808220"/>
          </a:xfrm>
          <a:prstGeom prst="rect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8000">
                  <a:srgbClr val="C1DCBC">
                    <a:alpha val="100000"/>
                    <a:lumMod val="91000"/>
                  </a:srgbClr>
                </a:gs>
                <a:gs pos="78000">
                  <a:srgbClr val="C1DCBC">
                    <a:alpha val="100000"/>
                  </a:srgbClr>
                </a:gs>
                <a:gs pos="79000">
                  <a:srgbClr val="CAE1C6">
                    <a:alpha val="100000"/>
                  </a:srgbClr>
                </a:gs>
                <a:gs pos="78000">
                  <a:srgbClr val="C4DEBF">
                    <a:alpha val="100000"/>
                  </a:srgb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  <a:effectLst>
            <a:glow rad="520700">
              <a:schemeClr val="tx1">
                <a:alpha val="40000"/>
              </a:schemeClr>
            </a:glow>
            <a:outerShdw blurRad="596900" dir="5040000" sx="64000" sy="64000" algn="r" rotWithShape="0">
              <a:prstClr val="black">
                <a:alpha val="89000"/>
              </a:prstClr>
            </a:outerShdw>
            <a:reflection stA="59000" endA="300" endPos="15000" dist="114300" dir="5400000" sy="-100000" algn="bl" rotWithShape="0"/>
          </a:effectLst>
        </p:spPr>
      </p:pic>
      <p:sp>
        <p:nvSpPr>
          <p:cNvPr id="5" name="Text Box 4"/>
          <p:cNvSpPr txBox="1"/>
          <p:nvPr/>
        </p:nvSpPr>
        <p:spPr>
          <a:xfrm>
            <a:off x="2859405" y="3931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Title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76555" y="356870"/>
            <a:ext cx="11369040" cy="95694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algn="l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	    Advantages 					  Disadvantages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对象5"/>
          <p:cNvSpPr/>
          <p:nvPr>
            <p:custDataLst>
              <p:tags r:id="rId2"/>
            </p:custDataLst>
          </p:nvPr>
        </p:nvSpPr>
        <p:spPr>
          <a:xfrm>
            <a:off x="648970" y="608330"/>
            <a:ext cx="596265" cy="5588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I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sym typeface="+mn-ea"/>
              </a:rPr>
              <a:t>8</a:t>
            </a:r>
            <a:endParaRPr lang="en-IN" altLang="en-US" sz="20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20" name="Content Placeholder 19"/>
          <p:cNvSpPr/>
          <p:nvPr>
            <p:ph idx="2"/>
            <p:custDataLst>
              <p:tags r:id="rId3"/>
            </p:custDataLst>
          </p:nvPr>
        </p:nvSpPr>
        <p:spPr>
          <a:xfrm>
            <a:off x="608330" y="1490345"/>
            <a:ext cx="4479290" cy="4057015"/>
          </a:xfrm>
        </p:spPr>
        <p:txBody>
          <a:bodyPr>
            <a:noAutofit/>
          </a:bodyPr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Provides real-time air quality monitoring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Sends SMS alerts using GSM module (no Wi-Fi required)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Buzzer gives immediate warning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Low-cost and easy to implement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Portable and simple circuit design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Content Placeholder 19"/>
          <p:cNvSpPr/>
          <p:nvPr>
            <p:custDataLst>
              <p:tags r:id="rId4"/>
            </p:custDataLst>
          </p:nvPr>
        </p:nvSpPr>
        <p:spPr>
          <a:xfrm>
            <a:off x="6720205" y="1490345"/>
            <a:ext cx="4479290" cy="405701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en-US" sz="1600" b="0" i="0" u="none" strike="noStrike" kern="1200" cap="none" spc="150" normalizeH="0" baseline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en-US" sz="1600" b="0" i="0" u="none" strike="noStrike" kern="1200" cap="none" spc="150" normalizeH="0" baseline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en-US" sz="1400" b="0" i="0" u="none" strike="noStrike" kern="1200" cap="none" spc="150" normalizeH="0" baseline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en-US" sz="1400" b="0" i="0" u="none" strike="noStrike" kern="1200" cap="none" spc="150" normalizeH="0" baseline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Depends on mobile network signal (GSM)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SMS alerts may have delay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Power consumption increases with GSM module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Title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76555" y="356870"/>
            <a:ext cx="11369040" cy="95694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algn="l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	Applications 				Future Scope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对象5"/>
          <p:cNvSpPr/>
          <p:nvPr>
            <p:custDataLst>
              <p:tags r:id="rId2"/>
            </p:custDataLst>
          </p:nvPr>
        </p:nvSpPr>
        <p:spPr>
          <a:xfrm>
            <a:off x="648970" y="608330"/>
            <a:ext cx="596265" cy="5588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I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sym typeface="+mn-ea"/>
              </a:rPr>
              <a:t>9</a:t>
            </a:r>
            <a:endParaRPr lang="en-IN" altLang="en-US" sz="20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20" name="Content Placeholder 19"/>
          <p:cNvSpPr/>
          <p:nvPr>
            <p:ph idx="2"/>
            <p:custDataLst>
              <p:tags r:id="rId3"/>
            </p:custDataLst>
          </p:nvPr>
        </p:nvSpPr>
        <p:spPr>
          <a:xfrm>
            <a:off x="608330" y="1490345"/>
            <a:ext cx="4596765" cy="3210560"/>
          </a:xfrm>
        </p:spPr>
        <p:txBody>
          <a:bodyPr>
            <a:noAutofit/>
          </a:bodyPr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Home air quality monitoring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Industrial gas leakage detection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altLang="en-IN" sz="1900">
                <a:latin typeface="Times New Roman" panose="02020603050405020304" charset="0"/>
                <a:cs typeface="Times New Roman" panose="02020603050405020304" charset="0"/>
              </a:rPr>
              <a:t>- </a:t>
            </a:r>
            <a:r>
              <a:rPr lang="en-IN" altLang="en-US" sz="1900">
                <a:latin typeface="Times New Roman" panose="02020603050405020304" charset="0"/>
                <a:cs typeface="Times New Roman" panose="02020603050405020304" charset="0"/>
              </a:rPr>
              <a:t>( Vizag [ LG Polymers ] )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Smart city pollution monitoring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Schools</a:t>
            </a:r>
            <a:r>
              <a:rPr lang="en-IN" altLang="en-US" sz="19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hospitals</a:t>
            </a:r>
            <a:r>
              <a:rPr lang="en-IN" altLang="en-US" sz="19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office safety monitoring</a:t>
            </a:r>
            <a:r>
              <a:rPr lang="en-IN" altLang="en-US" sz="19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lang="en-IN" altLang="en-US" sz="19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Content Placeholder 19"/>
          <p:cNvSpPr/>
          <p:nvPr>
            <p:custDataLst>
              <p:tags r:id="rId4"/>
            </p:custDataLst>
          </p:nvPr>
        </p:nvSpPr>
        <p:spPr>
          <a:xfrm>
            <a:off x="6402705" y="1617345"/>
            <a:ext cx="4596765" cy="334264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en-US" sz="1800" b="0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sym typeface="+mn-ea"/>
              </a:defRPr>
            </a:lvl1pPr>
            <a:lvl2pPr marL="685800" marR="0" lvl="1" indent="-228600" algn="l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en-US" sz="1600" b="0" i="0" u="none" strike="noStrike" kern="1200" cap="none" spc="150" normalizeH="0" baseline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en-US" sz="1600" b="0" i="0" u="none" strike="noStrike" kern="1200" cap="none" spc="150" normalizeH="0" baseline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en-US" sz="1400" b="0" i="0" u="none" strike="noStrike" kern="1200" cap="none" spc="150" normalizeH="0" baseline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en-US" sz="1400" b="0" i="0" u="none" strike="noStrike" kern="1200" cap="none" spc="150" normalizeH="0" baseline="0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</a:defRPr>
            </a:lvl5pPr>
            <a:lvl6pPr marL="2514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IN" altLang="en-US" sz="1900">
                <a:latin typeface="Times New Roman" panose="02020603050405020304" charset="0"/>
                <a:cs typeface="Times New Roman" panose="02020603050405020304" charset="0"/>
              </a:rPr>
              <a:t>Add Wi - Fi / LoRa backup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Cloud data storage and analysis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GPS-based pollution tracking system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Solar-powered outdoor monitoring system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AI-based pollution prediction and smart alerts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540240" y="7232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Title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76555" y="356870"/>
            <a:ext cx="11369040" cy="95694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algn="l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	Results :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" name="对象5"/>
          <p:cNvSpPr/>
          <p:nvPr>
            <p:custDataLst>
              <p:tags r:id="rId2"/>
            </p:custDataLst>
          </p:nvPr>
        </p:nvSpPr>
        <p:spPr>
          <a:xfrm>
            <a:off x="648970" y="608330"/>
            <a:ext cx="596265" cy="5588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I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sym typeface="+mn-ea"/>
              </a:rPr>
              <a:t>10</a:t>
            </a:r>
            <a:endParaRPr lang="en-IN" altLang="en-US" sz="20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20" name="Content Placeholder 19"/>
          <p:cNvSpPr/>
          <p:nvPr>
            <p:ph idx="2"/>
            <p:custDataLst>
              <p:tags r:id="rId3"/>
            </p:custDataLst>
          </p:nvPr>
        </p:nvSpPr>
        <p:spPr>
          <a:xfrm>
            <a:off x="608330" y="1490345"/>
            <a:ext cx="4596765" cy="4759325"/>
          </a:xfrm>
        </p:spPr>
        <p:txBody>
          <a:bodyPr>
            <a:noAutofit/>
          </a:bodyPr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Successfully monitors temperature, humidity, CO, and PM2.5 levels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Displays real-time data on LCD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Sends SMS alerts during high pollution conditions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Detects over temperature and high gas levels</a:t>
            </a:r>
            <a:endParaRPr lang="en-US" altLang="en-US" sz="19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Automatically turns ON </a:t>
            </a:r>
            <a:r>
              <a:rPr lang="en-IN" altLang="en-US" sz="1900">
                <a:latin typeface="Times New Roman" panose="02020603050405020304" charset="0"/>
                <a:cs typeface="Times New Roman" panose="02020603050405020304" charset="0"/>
              </a:rPr>
              <a:t>Buzzer</a:t>
            </a:r>
            <a:r>
              <a:rPr lang="en-US" altLang="en-US" sz="1900">
                <a:latin typeface="Times New Roman" panose="02020603050405020304" charset="0"/>
                <a:cs typeface="Times New Roman" panose="02020603050405020304" charset="0"/>
              </a:rPr>
              <a:t> during dangerous conditions</a:t>
            </a:r>
            <a:r>
              <a:rPr lang="en-IN" altLang="en-US" sz="1900">
                <a:latin typeface="Times New Roman" panose="02020603050405020304" charset="0"/>
                <a:cs typeface="Times New Roman" panose="02020603050405020304" charset="0"/>
              </a:rPr>
              <a:t>. </a:t>
            </a:r>
            <a:endParaRPr lang="en-IN" altLang="en-US" sz="19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rcRect b="8870"/>
          <a:stretch>
            <a:fillRect/>
          </a:stretch>
        </p:blipFill>
        <p:spPr>
          <a:xfrm>
            <a:off x="5360035" y="1868805"/>
            <a:ext cx="2967355" cy="3986530"/>
          </a:xfrm>
          <a:prstGeom prst="rect">
            <a:avLst/>
          </a:prstGeom>
          <a:effectLst>
            <a:glow rad="495300">
              <a:srgbClr val="FF0000">
                <a:alpha val="62000"/>
              </a:srgbClr>
            </a:glow>
            <a:reflection blurRad="6350" stA="50000" endA="300" endPos="55500" dist="101600" dir="5400000" sy="-100000" algn="bl" rotWithShape="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0135" y="1387475"/>
            <a:ext cx="2565400" cy="4965700"/>
          </a:xfrm>
          <a:prstGeom prst="rect">
            <a:avLst/>
          </a:prstGeom>
          <a:effectLst>
            <a:glow rad="254000">
              <a:srgbClr val="FF0000">
                <a:alpha val="40000"/>
              </a:srgbClr>
            </a:glow>
          </a:effectLst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idx="2"/>
            <p:custDataLst>
              <p:tags r:id="rId1"/>
            </p:custDataLst>
          </p:nvPr>
        </p:nvSpPr>
        <p:spPr>
          <a:xfrm>
            <a:off x="2563495" y="2289175"/>
            <a:ext cx="7308850" cy="2446020"/>
          </a:xfrm>
        </p:spPr>
        <p:txBody>
          <a:bodyPr/>
          <a:p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Low - cost and Efficient air pollution monitoring System Developed.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Successfully Monitoring Multiple Environmental Parameters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Provides Real - Time Alerts Using GSM Technology.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Works without Internet , Suitable For remote areas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Title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76555" y="356870"/>
            <a:ext cx="11369040" cy="95694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wrap="square" lIns="91440" tIns="45720" rIns="91440" bIns="45720" rtlCol="0" anchor="ctr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en-US" sz="3600" b="0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j-lt"/>
              </a:defRPr>
            </a:lvl1pPr>
          </a:lstStyle>
          <a:p>
            <a:pPr algn="l"/>
            <a:r>
              <a:rPr lang="en-IN" altLang="en-US">
                <a:latin typeface="Times New Roman" panose="02020603050405020304" charset="0"/>
                <a:cs typeface="Times New Roman" panose="02020603050405020304" charset="0"/>
              </a:rPr>
              <a:t>	Conclusion :</a:t>
            </a:r>
            <a:endParaRPr lang="en-I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对象5"/>
          <p:cNvSpPr/>
          <p:nvPr>
            <p:custDataLst>
              <p:tags r:id="rId3"/>
            </p:custDataLst>
          </p:nvPr>
        </p:nvSpPr>
        <p:spPr>
          <a:xfrm>
            <a:off x="648970" y="608330"/>
            <a:ext cx="596265" cy="5588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lin ang="0" scaled="0"/>
          </a:gradFill>
          <a:ln w="25400"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1" forceAA="0" compatLnSpc="1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IN" altLang="en-US" sz="2000" b="1" dirty="0">
                <a:solidFill>
                  <a:schemeClr val="lt1">
                    <a:lumMod val="100000"/>
                  </a:schemeClr>
                </a:solidFill>
                <a:latin typeface="+mn-ea"/>
                <a:sym typeface="+mn-ea"/>
              </a:rPr>
              <a:t>11</a:t>
            </a:r>
            <a:endParaRPr lang="en-IN" altLang="en-US" sz="2000" b="1" dirty="0">
              <a:solidFill>
                <a:schemeClr val="lt1">
                  <a:lumMod val="100000"/>
                </a:schemeClr>
              </a:solidFill>
              <a:latin typeface="+mn-ea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215390" y="1619885"/>
            <a:ext cx="9255125" cy="3218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IN" altLang="en-US" sz="6000"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endParaRPr lang="en-IN" altLang="en-US" sz="60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r>
              <a:rPr lang="en-IN" altLang="en-US" sz="6000">
                <a:latin typeface="Times New Roman" panose="02020603050405020304" charset="0"/>
                <a:cs typeface="Times New Roman" panose="02020603050405020304" charset="0"/>
              </a:rPr>
              <a:t>FOR YOUR TIME AND ATTENTION</a:t>
            </a:r>
            <a:endParaRPr lang="en-IN" altLang="en-US" sz="6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PRESET_TEXT" val="Click to add subtitle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PRESET_TEXT" val="01"/>
  <p:tag name="KSO_WM_UNIT_NOCLEAR" val="0"/>
  <p:tag name="KSO_WM_UNIT_VALUE" val="3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6"/>
  <p:tag name="KSO_WM_UNIT_ID" val="_4*i*6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PRESET_TEXT" val="THANK YOU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1*f*4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59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10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10"/>
</p:tagLst>
</file>

<file path=ppt/tags/tag82.xml><?xml version="1.0" encoding="utf-8"?>
<p:tagLst xmlns:p="http://schemas.openxmlformats.org/presentationml/2006/main">
  <p:tag name="KSO_WM_TEMPLATE_THUMBS_INDEX" val="1、11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10"/>
</p:tagLst>
</file>

<file path=ppt/tags/tag8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10_1*a*1"/>
  <p:tag name="KSO_WM_TEMPLATE_CATEGORY" val="custom"/>
  <p:tag name="KSO_WM_TEMPLATE_INDEX" val="20233410"/>
  <p:tag name="KSO_WM_UNIT_LAYERLEVEL" val="1"/>
  <p:tag name="KSO_WM_TAG_VERSION" val="3.0"/>
  <p:tag name="KSO_WM_BEAUTIFY_FLAG" val="#wm#"/>
  <p:tag name="KSO_WM_UNIT_PRESET_TEXT" val="Your title here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custom20233410_1*b*1"/>
  <p:tag name="KSO_WM_TEMPLATE_CATEGORY" val="custom"/>
  <p:tag name="KSO_WM_TEMPLATE_INDEX" val="20233410"/>
  <p:tag name="KSO_WM_UNIT_LAYERLEVEL" val="1"/>
  <p:tag name="KSO_WM_TAG_VERSION" val="3.0"/>
  <p:tag name="KSO_WM_BEAUTIFY_FLAG" val="#wm#"/>
  <p:tag name="KSO_WM_UNIT_PRESET_TEXT" val="Click to add subtitle"/>
</p:tagLst>
</file>

<file path=ppt/tags/tag86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custom20233410_1*f*1"/>
  <p:tag name="KSO_WM_TEMPLATE_CATEGORY" val="custom"/>
  <p:tag name="KSO_WM_TEMPLATE_INDEX" val="20233410"/>
  <p:tag name="KSO_WM_UNIT_LAYERLEVEL" val="1"/>
  <p:tag name="KSO_WM_TAG_VERSION" val="3.0"/>
  <p:tag name="KSO_WM_BEAUTIFY_FLAG" val="#wm#"/>
  <p:tag name="KSO_WM_UNIT_PRESET_TEXT" val="Name"/>
</p:tagLst>
</file>

<file path=ppt/tags/tag87.xml><?xml version="1.0" encoding="utf-8"?>
<p:tagLst xmlns:p="http://schemas.openxmlformats.org/presentationml/2006/main">
  <p:tag name="KSO_WM_TEMPLATE_THUMBS_INDEX" val="1、11"/>
  <p:tag name="KSO_WM_SLIDE_CONTENT_AREA" val="{&quot;left&quot;:&quot;454.6&quot;,&quot;top&quot;:&quot;89.3&quot;,&quot;width&quot;:&quot;475.4&quot;,&quot;height&quot;:&quot;304.75&quot;}"/>
  <p:tag name="KSO_WM_SPECIAL_SOURCE" val="bdnull"/>
  <p:tag name="KSO_WM_SLIDE_ID" val="custom20233410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10"/>
  <p:tag name="KSO_WM_SLIDE_LAYOUT" val="a_b_f"/>
  <p:tag name="KSO_WM_SLIDE_LAYOUT_CNT" val="1_1_1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33410"/>
</p:tagLst>
</file>

<file path=ppt/tags/tag9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539.95,&quot;left&quot;:-7.15,&quot;top&quot;:0,&quot;width&quot;:978.554330708661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1"/>
  <p:tag name="KSO_WM_UNIT_ID" val="diagram20238220_2*n_h_h_i*1_2_1_1"/>
  <p:tag name="KSO_WM_TEMPLATE_CATEGORY" val="diagram"/>
  <p:tag name="KSO_WM_TEMPLATE_INDEX" val="20238220"/>
  <p:tag name="KSO_WM_UNIT_LAYERLEVEL" val="1_1_1_1"/>
  <p:tag name="KSO_WM_TAG_VERSION" val="3.0"/>
  <p:tag name="KSO_WM_UNIT_PRESET_TEXT" val="1"/>
  <p:tag name="KSO_WM_UNIT_FILL_TYPE" val="3"/>
  <p:tag name="KSO_WM_UNIT_TEXT_FILL_FORE_SCHEMECOLOR_INDEX" val="1"/>
  <p:tag name="KSO_WM_UNIT_TEXT_FILL_TYPE" val="1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33410"/>
</p:tagLst>
</file>

<file path=ppt/tags/tag9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539.95,&quot;left&quot;:-7.15,&quot;top&quot;:0,&quot;width&quot;:978.554330708661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1"/>
  <p:tag name="KSO_WM_UNIT_ID" val="diagram20238220_2*n_h_h_i*1_2_1_1"/>
  <p:tag name="KSO_WM_TEMPLATE_CATEGORY" val="diagram"/>
  <p:tag name="KSO_WM_TEMPLATE_INDEX" val="20238220"/>
  <p:tag name="KSO_WM_UNIT_LAYERLEVEL" val="1_1_1_1"/>
  <p:tag name="KSO_WM_TAG_VERSION" val="3.0"/>
  <p:tag name="KSO_WM_UNIT_PRESET_TEXT" val="1"/>
  <p:tag name="KSO_WM_UNIT_FILL_TYPE" val="3"/>
  <p:tag name="KSO_WM_UNIT_TEXT_FILL_FORE_SCHEMECOLOR_INDEX" val="1"/>
  <p:tag name="KSO_WM_UNIT_TEXT_FILL_TYPE" val="1"/>
</p:tagLst>
</file>

<file path=ppt/tags/tag9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33410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539.95,&quot;left&quot;:-7.15,&quot;top&quot;:0,&quot;width&quot;:978.554330708661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1"/>
  <p:tag name="KSO_WM_UNIT_ID" val="diagram20238220_2*n_h_h_i*1_2_1_1"/>
  <p:tag name="KSO_WM_TEMPLATE_CATEGORY" val="diagram"/>
  <p:tag name="KSO_WM_TEMPLATE_INDEX" val="20238220"/>
  <p:tag name="KSO_WM_UNIT_LAYERLEVEL" val="1_1_1_1"/>
  <p:tag name="KSO_WM_TAG_VERSION" val="3.0"/>
  <p:tag name="KSO_WM_UNIT_PRESET_TEXT" val="1"/>
  <p:tag name="KSO_WM_UNIT_FILL_TYPE" val="3"/>
  <p:tag name="KSO_WM_UNIT_TEXT_FILL_FORE_SCHEMECOLOR_INDEX" val="1"/>
  <p:tag name="KSO_WM_UNIT_TEXT_FILL_TYPE" val="1"/>
</p:tagLst>
</file>

<file path=ppt/tags/tag10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33410"/>
</p:tagLst>
</file>

<file path=ppt/tags/tag10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539.95,&quot;left&quot;:-7.15,&quot;top&quot;:0,&quot;width&quot;:978.554330708661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1"/>
  <p:tag name="KSO_WM_UNIT_ID" val="diagram20238220_2*n_h_h_i*1_2_1_1"/>
  <p:tag name="KSO_WM_TEMPLATE_CATEGORY" val="diagram"/>
  <p:tag name="KSO_WM_TEMPLATE_INDEX" val="20238220"/>
  <p:tag name="KSO_WM_UNIT_LAYERLEVEL" val="1_1_1_1"/>
  <p:tag name="KSO_WM_TAG_VERSION" val="3.0"/>
  <p:tag name="KSO_WM_UNIT_PRESET_TEXT" val="1"/>
  <p:tag name="KSO_WM_UNIT_FILL_TYPE" val="3"/>
  <p:tag name="KSO_WM_UNIT_TEXT_FILL_FORE_SCHEMECOLOR_INDEX" val="1"/>
  <p:tag name="KSO_WM_UNIT_TEXT_FILL_TYPE" val="1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33410"/>
</p:tagLst>
</file>

<file path=ppt/tags/tag10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539.95,&quot;left&quot;:-7.15,&quot;top&quot;:0,&quot;width&quot;:978.554330708661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1"/>
  <p:tag name="KSO_WM_UNIT_ID" val="diagram20238220_2*n_h_h_i*1_2_1_1"/>
  <p:tag name="KSO_WM_TEMPLATE_CATEGORY" val="diagram"/>
  <p:tag name="KSO_WM_TEMPLATE_INDEX" val="20238220"/>
  <p:tag name="KSO_WM_UNIT_LAYERLEVEL" val="1_1_1_1"/>
  <p:tag name="KSO_WM_TAG_VERSION" val="3.0"/>
  <p:tag name="KSO_WM_UNIT_PRESET_TEXT" val="1"/>
  <p:tag name="KSO_WM_UNIT_FILL_TYPE" val="3"/>
  <p:tag name="KSO_WM_UNIT_TEXT_FILL_FORE_SCHEMECOLOR_INDEX" val="1"/>
  <p:tag name="KSO_WM_UNIT_TEXT_FILL_TYPE" val="1"/>
</p:tagLst>
</file>

<file path=ppt/tags/tag108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33410"/>
</p:tagLst>
</file>

<file path=ppt/tags/tag110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539.95,&quot;left&quot;:-7.15,&quot;top&quot;:0,&quot;width&quot;:978.554330708661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1"/>
  <p:tag name="KSO_WM_UNIT_ID" val="diagram20238220_2*n_h_h_i*1_2_1_1"/>
  <p:tag name="KSO_WM_TEMPLATE_CATEGORY" val="diagram"/>
  <p:tag name="KSO_WM_TEMPLATE_INDEX" val="20238220"/>
  <p:tag name="KSO_WM_UNIT_LAYERLEVEL" val="1_1_1_1"/>
  <p:tag name="KSO_WM_TAG_VERSION" val="3.0"/>
  <p:tag name="KSO_WM_UNIT_PRESET_TEXT" val="1"/>
  <p:tag name="KSO_WM_UNIT_FILL_TYPE" val="3"/>
  <p:tag name="KSO_WM_UNIT_TEXT_FILL_FORE_SCHEMECOLOR_INDEX" val="1"/>
  <p:tag name="KSO_WM_UNIT_TEXT_FILL_TYPE" val="1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33410"/>
</p:tagLst>
</file>

<file path=ppt/tags/tag115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539.95,&quot;left&quot;:-7.15,&quot;top&quot;:0,&quot;width&quot;:978.554330708661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1"/>
  <p:tag name="KSO_WM_UNIT_ID" val="diagram20238220_2*n_h_h_i*1_2_1_1"/>
  <p:tag name="KSO_WM_TEMPLATE_CATEGORY" val="diagram"/>
  <p:tag name="KSO_WM_TEMPLATE_INDEX" val="20238220"/>
  <p:tag name="KSO_WM_UNIT_LAYERLEVEL" val="1_1_1_1"/>
  <p:tag name="KSO_WM_TAG_VERSION" val="3.0"/>
  <p:tag name="KSO_WM_UNIT_PRESET_TEXT" val="1"/>
  <p:tag name="KSO_WM_UNIT_FILL_TYPE" val="3"/>
  <p:tag name="KSO_WM_UNIT_TEXT_FILL_FORE_SCHEMECOLOR_INDEX" val="1"/>
  <p:tag name="KSO_WM_UNIT_TEXT_FILL_TYPE" val="1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33410"/>
</p:tagLst>
</file>

<file path=ppt/tags/tag11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539.95,&quot;left&quot;:-7.15,&quot;top&quot;:0,&quot;width&quot;:978.554330708661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1"/>
  <p:tag name="KSO_WM_UNIT_ID" val="diagram20238220_2*n_h_h_i*1_2_1_1"/>
  <p:tag name="KSO_WM_TEMPLATE_CATEGORY" val="diagram"/>
  <p:tag name="KSO_WM_TEMPLATE_INDEX" val="20238220"/>
  <p:tag name="KSO_WM_UNIT_LAYERLEVEL" val="1_1_1_1"/>
  <p:tag name="KSO_WM_TAG_VERSION" val="3.0"/>
  <p:tag name="KSO_WM_UNIT_PRESET_TEXT" val="1"/>
  <p:tag name="KSO_WM_UNIT_FILL_TYPE" val="3"/>
  <p:tag name="KSO_WM_UNIT_TEXT_FILL_FORE_SCHEMECOLOR_INDEX" val="1"/>
  <p:tag name="KSO_WM_UNIT_TEXT_FILL_TYPE" val="1"/>
</p:tagLst>
</file>

<file path=ppt/tags/tag12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TEMPLATE_INDEX" val="20233410"/>
</p:tagLst>
</file>

<file path=ppt/tags/tag1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539.95,&quot;left&quot;:-7.15,&quot;top&quot;:0,&quot;width&quot;:978.554330708661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1"/>
  <p:tag name="KSO_WM_UNIT_ID" val="diagram20238220_2*n_h_h_i*1_2_1_1"/>
  <p:tag name="KSO_WM_TEMPLATE_CATEGORY" val="diagram"/>
  <p:tag name="KSO_WM_TEMPLATE_INDEX" val="20238220"/>
  <p:tag name="KSO_WM_UNIT_LAYERLEVEL" val="1_1_1_1"/>
  <p:tag name="KSO_WM_TAG_VERSION" val="3.0"/>
  <p:tag name="KSO_WM_UNIT_PRESET_TEXT" val="1"/>
  <p:tag name="KSO_WM_UNIT_FILL_TYPE" val="3"/>
  <p:tag name="KSO_WM_UNIT_TEXT_FILL_FORE_SCHEMECOLOR_INDEX" val="1"/>
  <p:tag name="KSO_WM_UNIT_TEXT_FILL_TYPE" val="1"/>
</p:tagLst>
</file>

<file path=ppt/tags/tag126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BEAUTIFY_FLAG" val="#wm#"/>
  <p:tag name="KSO_WM_TEMPLATE_CATEGORY" val="custom"/>
  <p:tag name="KSO_WM_TEMPLATE_INDEX" val="20233410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539.95,&quot;left&quot;:-7.15,&quot;top&quot;:0,&quot;width&quot;:978.554330708661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1"/>
  <p:tag name="KSO_WM_UNIT_ID" val="diagram20238220_2*n_h_h_i*1_2_1_1"/>
  <p:tag name="KSO_WM_TEMPLATE_CATEGORY" val="diagram"/>
  <p:tag name="KSO_WM_TEMPLATE_INDEX" val="20238220"/>
  <p:tag name="KSO_WM_UNIT_LAYERLEVEL" val="1_1_1_1"/>
  <p:tag name="KSO_WM_TAG_VERSION" val="3.0"/>
  <p:tag name="KSO_WM_UNIT_PRESET_TEXT" val="1"/>
  <p:tag name="KSO_WM_UNIT_FILL_TYPE" val="3"/>
  <p:tag name="KSO_WM_UNIT_TEXT_FILL_FORE_SCHEMECOLOR_INDEX" val="1"/>
  <p:tag name="KSO_WM_UNIT_TEXT_FILL_TYPE" val="1"/>
</p:tagLst>
</file>

<file path=ppt/tags/tag13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BEAUTIFY_FLAG" val="#wm#"/>
  <p:tag name="KSO_WM_TEMPLATE_CATEGORY" val="custom"/>
  <p:tag name="KSO_WM_TEMPLATE_INDEX" val="20233410"/>
</p:tagLst>
</file>

<file path=ppt/tags/tag13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539.95,&quot;left&quot;:-7.15,&quot;top&quot;:0,&quot;width&quot;:978.554330708661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SUBTYPE" val="d"/>
  <p:tag name="KSO_WM_UNIT_TYPE" val="n_h_h_i"/>
  <p:tag name="KSO_WM_UNIT_INDEX" val="1_2_1_1"/>
  <p:tag name="KSO_WM_UNIT_ID" val="diagram20238220_2*n_h_h_i*1_2_1_1"/>
  <p:tag name="KSO_WM_TEMPLATE_CATEGORY" val="diagram"/>
  <p:tag name="KSO_WM_TEMPLATE_INDEX" val="20238220"/>
  <p:tag name="KSO_WM_UNIT_LAYERLEVEL" val="1_1_1_1"/>
  <p:tag name="KSO_WM_TAG_VERSION" val="3.0"/>
  <p:tag name="KSO_WM_UNIT_PRESET_TEXT" val="1"/>
  <p:tag name="KSO_WM_UNIT_FILL_TYPE" val="3"/>
  <p:tag name="KSO_WM_UNIT_TEXT_FILL_FORE_SCHEMECOLOR_INDEX" val="1"/>
  <p:tag name="KSO_WM_UNIT_TEXT_FILL_TYPE" val="1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33410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10"/>
</p:tagLst>
</file>

<file path=ppt/theme/theme1.xml><?xml version="1.0" encoding="utf-8"?>
<a:theme xmlns:a="http://schemas.openxmlformats.org/drawingml/2006/main" name="1_Office Theme">
  <a:themeElements>
    <a:clrScheme name="自定义 112">
      <a:dk1>
        <a:srgbClr val="000000"/>
      </a:dk1>
      <a:lt1>
        <a:srgbClr val="FFFFFF"/>
      </a:lt1>
      <a:dk2>
        <a:srgbClr val="6C5500"/>
      </a:dk2>
      <a:lt2>
        <a:srgbClr val="FFF7DA"/>
      </a:lt2>
      <a:accent1>
        <a:srgbClr val="62A555"/>
      </a:accent1>
      <a:accent2>
        <a:srgbClr val="FFD948"/>
      </a:accent2>
      <a:accent3>
        <a:srgbClr val="A1B433"/>
      </a:accent3>
      <a:accent4>
        <a:srgbClr val="C0BC23"/>
      </a:accent4>
      <a:accent5>
        <a:srgbClr val="E0C312"/>
      </a:accent5>
      <a:accent6>
        <a:srgbClr val="FFCB01"/>
      </a:accent6>
      <a:hlink>
        <a:srgbClr val="0563C1"/>
      </a:hlink>
      <a:folHlink>
        <a:srgbClr val="954D72"/>
      </a:folHlink>
    </a:clrScheme>
    <a:fontScheme name="可爱风组合">
      <a:majorFont>
        <a:latin typeface="Mali SemiBold"/>
        <a:ea typeface="Mali SemiBold"/>
        <a:cs typeface=""/>
      </a:majorFont>
      <a:minorFont>
        <a:latin typeface="Mali"/>
        <a:ea typeface="Mal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3478</Words>
  <Application>WPS Presentation</Application>
  <PresentationFormat>Widescreen</PresentationFormat>
  <Paragraphs>188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Wingdings</vt:lpstr>
      <vt:lpstr>Times New Roman</vt:lpstr>
      <vt:lpstr>Mali</vt:lpstr>
      <vt:lpstr>Segoe Print</vt:lpstr>
      <vt:lpstr>Mali SemiBold</vt:lpstr>
      <vt:lpstr>Microsoft YaHei</vt:lpstr>
      <vt:lpstr>Arial Unicode MS</vt:lpstr>
      <vt:lpstr>Calibri</vt:lpstr>
      <vt:lpstr>1_Office Theme</vt:lpstr>
      <vt:lpstr>IOT Based Air Pollution Monitoring System Using GSM Module  </vt:lpstr>
      <vt:lpstr>	Abstract:</vt:lpstr>
      <vt:lpstr>	Introduction &amp; problem statement 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kadum</dc:creator>
  <cp:lastModifiedBy>Ramana Kadumula</cp:lastModifiedBy>
  <cp:revision>21</cp:revision>
  <dcterms:created xsi:type="dcterms:W3CDTF">2025-07-23T00:59:00Z</dcterms:created>
  <dcterms:modified xsi:type="dcterms:W3CDTF">2026-04-24T01:56:39Z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CC7EADCE40714DB1B34D6EB5145A1A0D_13</vt:lpwstr>
  </property>
  <property fmtid="{D5CDD505-2E9C-101B-9397-08002B2CF9AE}" pid="3" name="KSOProductBuildVer">
    <vt:lpwstr>1033-12.1.0.25242</vt:lpwstr>
  </property>
</Properties>
</file>